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76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13807440" cy="7635240"/>
          </a:xfrm>
          <a:prstGeom prst="rect">
            <a:avLst/>
          </a:prstGeom>
          <a:solidFill>
            <a:srgbClr val="122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258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488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718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7947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177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406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636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866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095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325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554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3784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2014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0243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8473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6702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4932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" y="32004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2920" y="1033271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2920" y="1746504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2920" y="2459736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2920" y="3172968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2920" y="388620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02920" y="4599431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2920" y="5312664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2920" y="6025896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02920" y="6739128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02920" y="745236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0" y="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914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1828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2743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36576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45720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5486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6400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7315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4218920" y="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4218920" y="914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4218920" y="1828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4218920" y="2743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4218920" y="36576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4218920" y="45720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4218920" y="5486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4218920" y="6400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4218920" y="7315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14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828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743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657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572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400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15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229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44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0058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0972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1887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2801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3716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8156448" y="1938528"/>
            <a:ext cx="5669280" cy="32004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7973568" y="1755648"/>
            <a:ext cx="5815584" cy="3346704"/>
          </a:xfrm>
          <a:prstGeom prst="roundRect">
            <a:avLst/>
          </a:prstGeom>
          <a:solidFill>
            <a:srgbClr val="5F4C37"/>
          </a:solidFill>
          <a:ln w="19050">
            <a:solidFill>
              <a:srgbClr val="AE91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9" name="Picture 68" descr="gam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828800"/>
            <a:ext cx="5669280" cy="3200400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8046720" y="4681728"/>
            <a:ext cx="566928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211312" y="4754880"/>
            <a:ext cx="534009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1E6"/>
                </a:solidFill>
                <a:latin typeface="Consolas"/>
              </a:rPr>
              <a:t>IN-GAME ROOM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7240" y="1234440"/>
            <a:ext cx="65836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>
                <a:solidFill>
                  <a:srgbClr val="F5F1E6"/>
                </a:solidFill>
                <a:latin typeface="Aptos Display"/>
              </a:rPr>
              <a:t>5 JAHRE
HÖLLE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7240" y="3017520"/>
            <a:ext cx="4572000" cy="91440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04672" y="32461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0BE48"/>
                </a:solidFill>
                <a:latin typeface="Consolas"/>
              </a:rPr>
              <a:t>Binding of Isaac × HTL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" y="370332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C6BCA5"/>
                </a:solidFill>
                <a:latin typeface="Aptos"/>
              </a:rPr>
              <a:t>von David Jäger &amp; Valentin Hänsler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22960" y="4800600"/>
            <a:ext cx="2148840" cy="502920"/>
          </a:xfrm>
          <a:prstGeom prst="roundRect">
            <a:avLst/>
          </a:prstGeom>
          <a:solidFill>
            <a:srgbClr val="16241B"/>
          </a:solidFill>
          <a:ln w="25400">
            <a:solidFill>
              <a:srgbClr val="7EF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22960" y="4965192"/>
            <a:ext cx="21488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7EF54D"/>
                </a:solidFill>
                <a:latin typeface="Consolas"/>
              </a:rPr>
              <a:t>PIXEL ART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246120" y="4800600"/>
            <a:ext cx="2148840" cy="502920"/>
          </a:xfrm>
          <a:prstGeom prst="roundRect">
            <a:avLst/>
          </a:prstGeom>
          <a:solidFill>
            <a:srgbClr val="16241B"/>
          </a:solidFill>
          <a:ln w="25400">
            <a:solidFill>
              <a:srgbClr val="F0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246120" y="4965192"/>
            <a:ext cx="21488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0BE48"/>
                </a:solidFill>
                <a:latin typeface="Consolas"/>
              </a:rPr>
              <a:t>DUNGEON CRAWLER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669280" y="4800600"/>
            <a:ext cx="2148840" cy="502920"/>
          </a:xfrm>
          <a:prstGeom prst="roundRect">
            <a:avLst/>
          </a:prstGeom>
          <a:solidFill>
            <a:srgbClr val="16241B"/>
          </a:solidFill>
          <a:ln w="25400">
            <a:solidFill>
              <a:srgbClr val="DE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669280" y="4965192"/>
            <a:ext cx="21488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DE3A31"/>
                </a:solidFill>
                <a:latin typeface="Consolas"/>
              </a:rPr>
              <a:t>ROGUELIKE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" y="72694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6BCA5"/>
                </a:solidFill>
                <a:latin typeface="Consolas"/>
              </a:rPr>
              <a:t>GAME DESIGN PRESENTATION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0"/>
            <a:ext cx="14630400" cy="228600"/>
          </a:xfrm>
          <a:prstGeom prst="rect">
            <a:avLst/>
          </a:prstGeom>
          <a:solidFill>
            <a:srgbClr val="77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0" y="228600"/>
            <a:ext cx="14630400" cy="73152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94360" y="41148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94360" y="1106424"/>
            <a:ext cx="2743200" cy="73152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401568" y="1106424"/>
            <a:ext cx="914400" cy="73152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3304520" y="384048"/>
            <a:ext cx="155448" cy="155448"/>
          </a:xfrm>
          <a:prstGeom prst="rect">
            <a:avLst/>
          </a:prstGeom>
          <a:solidFill>
            <a:srgbClr val="7EF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3533120" y="594360"/>
            <a:ext cx="155448" cy="155448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3761720" y="384048"/>
            <a:ext cx="155448" cy="155448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3990320" y="594360"/>
            <a:ext cx="155448" cy="155448"/>
          </a:xfrm>
          <a:prstGeom prst="rect">
            <a:avLst/>
          </a:prstGeom>
          <a:solidFill>
            <a:srgbClr val="5CC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4218920" y="384048"/>
            <a:ext cx="155448" cy="155448"/>
          </a:xfrm>
          <a:prstGeom prst="rect">
            <a:avLst/>
          </a:prstGeom>
          <a:solidFill>
            <a:srgbClr val="AE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3853160" y="78181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C6BCA5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13807440" cy="7635240"/>
          </a:xfrm>
          <a:prstGeom prst="rect">
            <a:avLst/>
          </a:prstGeom>
          <a:solidFill>
            <a:srgbClr val="122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258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488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718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7947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177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406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636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866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095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325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554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3784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2014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0243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8473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6702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4932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" y="32004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2920" y="1033271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2920" y="1746504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2920" y="2459736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2920" y="3172968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2920" y="388620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02920" y="4599431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2920" y="5312664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2920" y="6025896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02920" y="6739128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02920" y="745236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0" y="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914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1828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2743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36576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45720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5486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6400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7315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4218920" y="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4218920" y="914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4218920" y="1828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4218920" y="2743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4218920" y="36576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4218920" y="45720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4218920" y="5486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4218920" y="6400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4218920" y="7315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14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828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743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657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572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400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15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229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44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0058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0972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1887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2801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3716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0" y="0"/>
            <a:ext cx="14630400" cy="228600"/>
          </a:xfrm>
          <a:prstGeom prst="rect">
            <a:avLst/>
          </a:prstGeom>
          <a:solidFill>
            <a:srgbClr val="77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228600"/>
            <a:ext cx="14630400" cy="73152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94360" y="41148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F5F1E6"/>
                </a:solidFill>
                <a:latin typeface="Aptos Display"/>
              </a:rPr>
              <a:t>INHALT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" y="1106424"/>
            <a:ext cx="2743200" cy="73152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401568" y="1106424"/>
            <a:ext cx="914400" cy="73152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03504" y="1307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6BCA5"/>
                </a:solidFill>
                <a:latin typeface="Consolas"/>
              </a:rPr>
              <a:t>ROADMAP DER PRÄSENTATION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3304520" y="384048"/>
            <a:ext cx="155448" cy="155448"/>
          </a:xfrm>
          <a:prstGeom prst="rect">
            <a:avLst/>
          </a:prstGeom>
          <a:solidFill>
            <a:srgbClr val="7EF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3533120" y="594360"/>
            <a:ext cx="155448" cy="155448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3761720" y="384048"/>
            <a:ext cx="155448" cy="155448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3990320" y="594360"/>
            <a:ext cx="155448" cy="155448"/>
          </a:xfrm>
          <a:prstGeom prst="rect">
            <a:avLst/>
          </a:prstGeom>
          <a:solidFill>
            <a:srgbClr val="5CC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4218920" y="384048"/>
            <a:ext cx="155448" cy="155448"/>
          </a:xfrm>
          <a:prstGeom prst="rect">
            <a:avLst/>
          </a:prstGeom>
          <a:solidFill>
            <a:srgbClr val="AE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3853160" y="78181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C6BCA5"/>
                </a:solidFill>
                <a:latin typeface="Consolas"/>
              </a:rPr>
              <a:t>02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97280" y="1828800"/>
            <a:ext cx="914400" cy="502920"/>
          </a:xfrm>
          <a:prstGeom prst="roundRect">
            <a:avLst/>
          </a:prstGeom>
          <a:solidFill>
            <a:srgbClr val="18261D"/>
          </a:solidFill>
          <a:ln w="25400">
            <a:solidFill>
              <a:srgbClr val="DE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97280" y="196596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DE3A31"/>
                </a:solidFill>
                <a:latin typeface="Consolas"/>
              </a:rPr>
              <a:t>01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31720" y="18288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5F1E6"/>
                </a:solidFill>
                <a:latin typeface="Aptos"/>
              </a:rPr>
              <a:t>DAS GAME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331720" y="2212848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C6BCA5"/>
                </a:solidFill>
                <a:latin typeface="Aptos"/>
              </a:rPr>
              <a:t>Was ist 5 Jahre Hölle?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554480" y="2331720"/>
            <a:ext cx="0" cy="502920"/>
          </a:xfrm>
          <a:prstGeom prst="line">
            <a:avLst/>
          </a:prstGeom>
          <a:ln w="15240">
            <a:solidFill>
              <a:srgbClr val="AE9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1097280" y="2834640"/>
            <a:ext cx="914400" cy="502920"/>
          </a:xfrm>
          <a:prstGeom prst="roundRect">
            <a:avLst/>
          </a:prstGeom>
          <a:solidFill>
            <a:srgbClr val="18261D"/>
          </a:solidFill>
          <a:ln w="25400">
            <a:solidFill>
              <a:srgbClr val="F0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97280" y="29718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F0BE48"/>
                </a:solidFill>
                <a:latin typeface="Consolas"/>
              </a:rPr>
              <a:t>02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31720" y="28346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5F1E6"/>
                </a:solidFill>
                <a:latin typeface="Aptos"/>
              </a:rPr>
              <a:t>UNSER ZIEL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331720" y="3218688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C6BCA5"/>
                </a:solidFill>
                <a:latin typeface="Aptos"/>
              </a:rPr>
              <a:t>Richtung, Inspiration und eigener Twist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554480" y="3337560"/>
            <a:ext cx="0" cy="502920"/>
          </a:xfrm>
          <a:prstGeom prst="line">
            <a:avLst/>
          </a:prstGeom>
          <a:ln w="15240">
            <a:solidFill>
              <a:srgbClr val="AE9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1097280" y="3840480"/>
            <a:ext cx="914400" cy="502920"/>
          </a:xfrm>
          <a:prstGeom prst="roundRect">
            <a:avLst/>
          </a:prstGeom>
          <a:solidFill>
            <a:srgbClr val="18261D"/>
          </a:solidFill>
          <a:ln w="25400">
            <a:solidFill>
              <a:srgbClr val="7EF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97280" y="397764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7EF54D"/>
                </a:solidFill>
                <a:latin typeface="Consolas"/>
              </a:rPr>
              <a:t>03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331720" y="38404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5F1E6"/>
                </a:solidFill>
                <a:latin typeface="Aptos"/>
              </a:rPr>
              <a:t>SCREENS &amp; SYSTEME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31720" y="4224528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C6BCA5"/>
                </a:solidFill>
                <a:latin typeface="Aptos"/>
              </a:rPr>
              <a:t>Menü, Räume, Kampf und Shop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1554480" y="4343400"/>
            <a:ext cx="0" cy="502920"/>
          </a:xfrm>
          <a:prstGeom prst="line">
            <a:avLst/>
          </a:prstGeom>
          <a:ln w="15240">
            <a:solidFill>
              <a:srgbClr val="AE9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1097280" y="4846320"/>
            <a:ext cx="914400" cy="502920"/>
          </a:xfrm>
          <a:prstGeom prst="roundRect">
            <a:avLst/>
          </a:prstGeom>
          <a:solidFill>
            <a:srgbClr val="18261D"/>
          </a:solidFill>
          <a:ln w="25400">
            <a:solidFill>
              <a:srgbClr val="5CC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97280" y="498348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5CC1E3"/>
                </a:solidFill>
                <a:latin typeface="Consolas"/>
              </a:rPr>
              <a:t>04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331720" y="484632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5F1E6"/>
                </a:solidFill>
                <a:latin typeface="Aptos"/>
              </a:rPr>
              <a:t>SCHWIERIGKEITEN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331720" y="5230368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C6BCA5"/>
                </a:solidFill>
                <a:latin typeface="Aptos"/>
              </a:rPr>
              <a:t>Technische Challenges beim Entwickeln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1554480" y="5349240"/>
            <a:ext cx="0" cy="502920"/>
          </a:xfrm>
          <a:prstGeom prst="line">
            <a:avLst/>
          </a:prstGeom>
          <a:ln w="15240">
            <a:solidFill>
              <a:srgbClr val="AE9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1097280" y="5852160"/>
            <a:ext cx="914400" cy="502920"/>
          </a:xfrm>
          <a:prstGeom prst="roundRect">
            <a:avLst/>
          </a:prstGeom>
          <a:solidFill>
            <a:srgbClr val="18261D"/>
          </a:solidFill>
          <a:ln w="25400">
            <a:solidFill>
              <a:srgbClr val="A8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97280" y="598932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A85CE0"/>
                </a:solidFill>
                <a:latin typeface="Consolas"/>
              </a:rPr>
              <a:t>05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331720" y="585216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5F1E6"/>
                </a:solidFill>
                <a:latin typeface="Aptos"/>
              </a:rPr>
              <a:t>DEMO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331720" y="6236208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C6BCA5"/>
                </a:solidFill>
                <a:latin typeface="Aptos"/>
              </a:rPr>
              <a:t>Live-Einblick ins Game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253728" y="1938528"/>
            <a:ext cx="4297680" cy="24231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9070848" y="1755648"/>
            <a:ext cx="4443984" cy="2569464"/>
          </a:xfrm>
          <a:prstGeom prst="roundRect">
            <a:avLst/>
          </a:prstGeom>
          <a:solidFill>
            <a:srgbClr val="5F4C37"/>
          </a:solidFill>
          <a:ln w="19050">
            <a:solidFill>
              <a:srgbClr val="AE91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5" name="Picture 104" descr="gam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828800"/>
            <a:ext cx="4297680" cy="242316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9144000" y="3904488"/>
            <a:ext cx="429768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9308592" y="3977640"/>
            <a:ext cx="396849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1E6"/>
                </a:solidFill>
                <a:latin typeface="Consolas"/>
              </a:rPr>
              <a:t>MENÜ SCREEN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756648" y="4818888"/>
            <a:ext cx="3337560" cy="1874519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9573768" y="4636008"/>
            <a:ext cx="3483864" cy="2020823"/>
          </a:xfrm>
          <a:prstGeom prst="roundRect">
            <a:avLst/>
          </a:prstGeom>
          <a:solidFill>
            <a:srgbClr val="5F4C37"/>
          </a:solidFill>
          <a:ln w="19050">
            <a:solidFill>
              <a:srgbClr val="AE91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0" name="Picture 109" descr="gam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4709160"/>
            <a:ext cx="3337560" cy="1874519"/>
          </a:xfrm>
          <a:prstGeom prst="rect">
            <a:avLst/>
          </a:prstGeom>
        </p:spPr>
      </p:pic>
      <p:sp>
        <p:nvSpPr>
          <p:cNvPr id="111" name="Rectangle 110"/>
          <p:cNvSpPr/>
          <p:nvPr/>
        </p:nvSpPr>
        <p:spPr>
          <a:xfrm>
            <a:off x="9646920" y="6236207"/>
            <a:ext cx="333756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9811512" y="6309359"/>
            <a:ext cx="300837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1E6"/>
                </a:solidFill>
                <a:latin typeface="Consolas"/>
              </a:rPr>
              <a:t>RAUMSYSTEM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13807440" cy="7635240"/>
          </a:xfrm>
          <a:prstGeom prst="rect">
            <a:avLst/>
          </a:prstGeom>
          <a:solidFill>
            <a:srgbClr val="122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258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488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718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7947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177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406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636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866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095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325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554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3784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2014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0243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8473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6702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4932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" y="32004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2920" y="1033271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2920" y="1746504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2920" y="2459736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2920" y="3172968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2920" y="388620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02920" y="4599431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2920" y="5312664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2920" y="6025896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02920" y="6739128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02920" y="745236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0" y="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914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1828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2743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36576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45720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5486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6400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7315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4218920" y="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4218920" y="914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4218920" y="1828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4218920" y="2743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4218920" y="36576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4218920" y="45720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4218920" y="5486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4218920" y="6400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4218920" y="7315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14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828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743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657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572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400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15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229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44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0058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0972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1887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2801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3716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0" y="0"/>
            <a:ext cx="14630400" cy="228600"/>
          </a:xfrm>
          <a:prstGeom prst="rect">
            <a:avLst/>
          </a:prstGeom>
          <a:solidFill>
            <a:srgbClr val="77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228600"/>
            <a:ext cx="14630400" cy="73152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94360" y="41148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F5F1E6"/>
                </a:solidFill>
                <a:latin typeface="Aptos Display"/>
              </a:rPr>
              <a:t>UNSER ZIEL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" y="1106424"/>
            <a:ext cx="2743200" cy="73152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401568" y="1106424"/>
            <a:ext cx="914400" cy="73152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03504" y="1307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6BCA5"/>
                </a:solidFill>
                <a:latin typeface="Consolas"/>
              </a:rPr>
              <a:t>PIXEL ART + SCHUL-DUNGEON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3304520" y="384048"/>
            <a:ext cx="155448" cy="155448"/>
          </a:xfrm>
          <a:prstGeom prst="rect">
            <a:avLst/>
          </a:prstGeom>
          <a:solidFill>
            <a:srgbClr val="7EF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3533120" y="594360"/>
            <a:ext cx="155448" cy="155448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3761720" y="384048"/>
            <a:ext cx="155448" cy="155448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3990320" y="594360"/>
            <a:ext cx="155448" cy="155448"/>
          </a:xfrm>
          <a:prstGeom prst="rect">
            <a:avLst/>
          </a:prstGeom>
          <a:solidFill>
            <a:srgbClr val="5CC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4218920" y="384048"/>
            <a:ext cx="155448" cy="155448"/>
          </a:xfrm>
          <a:prstGeom prst="rect">
            <a:avLst/>
          </a:prstGeom>
          <a:solidFill>
            <a:srgbClr val="AE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3853160" y="78181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C6BCA5"/>
                </a:solidFill>
                <a:latin typeface="Consolas"/>
              </a:rPr>
              <a:t>03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68680" y="1828800"/>
            <a:ext cx="5486400" cy="4389120"/>
          </a:xfrm>
          <a:prstGeom prst="roundRect">
            <a:avLst/>
          </a:prstGeom>
          <a:solidFill>
            <a:srgbClr val="142019"/>
          </a:solidFill>
          <a:ln w="25400">
            <a:solidFill>
              <a:srgbClr val="F0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143000" y="2057400"/>
            <a:ext cx="4937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F0BE48"/>
                </a:solidFill>
                <a:latin typeface="Consolas"/>
              </a:rPr>
              <a:t>ZIEL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88720" y="2596896"/>
            <a:ext cx="109728" cy="109728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435608" y="251460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F5F1E6"/>
                </a:solidFill>
                <a:latin typeface="Aptos"/>
              </a:rPr>
              <a:t>Eigenes Pixel-Art-Game entwickeln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88720" y="3127248"/>
            <a:ext cx="109728" cy="109728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435608" y="3044952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F5F1E6"/>
                </a:solidFill>
                <a:latin typeface="Aptos"/>
              </a:rPr>
              <a:t>Gameplay inspiriert von The Binding of Isaac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88720" y="3657600"/>
            <a:ext cx="109728" cy="109728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435608" y="3575304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F5F1E6"/>
                </a:solidFill>
                <a:latin typeface="Aptos"/>
              </a:rPr>
              <a:t>Dungeon-Räume mit Gegnern und Bossfight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88720" y="4187952"/>
            <a:ext cx="109728" cy="109728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435608" y="4105656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F5F1E6"/>
                </a:solidFill>
                <a:latin typeface="Aptos"/>
              </a:rPr>
              <a:t>HTL-Twist durch Noten, Energy und Schul-Items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903720" y="2011680"/>
            <a:ext cx="1828800" cy="3108960"/>
          </a:xfrm>
          <a:prstGeom prst="roundRect">
            <a:avLst/>
          </a:prstGeom>
          <a:solidFill>
            <a:srgbClr val="152219"/>
          </a:solidFill>
          <a:ln w="29209">
            <a:solidFill>
              <a:srgbClr val="DE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995160" y="242316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DE3A31"/>
                </a:solidFill>
                <a:latin typeface="Aptos"/>
              </a:rPr>
              <a:t>ISAAC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86600" y="324612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F5F1E6"/>
                </a:solidFill>
                <a:latin typeface="Aptos"/>
              </a:rPr>
              <a:t>Roguelike-
Inspiration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89520" y="4251960"/>
            <a:ext cx="457200" cy="457200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9235440" y="2011680"/>
            <a:ext cx="1828800" cy="3108960"/>
          </a:xfrm>
          <a:prstGeom prst="roundRect">
            <a:avLst/>
          </a:prstGeom>
          <a:solidFill>
            <a:srgbClr val="152219"/>
          </a:solidFill>
          <a:ln w="29209">
            <a:solidFill>
              <a:srgbClr val="F0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326880" y="242316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0BE48"/>
                </a:solidFill>
                <a:latin typeface="Aptos"/>
              </a:rPr>
              <a:t>HTL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418320" y="324612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F5F1E6"/>
                </a:solidFill>
                <a:latin typeface="Aptos"/>
              </a:rPr>
              <a:t>Schul-
Setting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921240" y="4251960"/>
            <a:ext cx="457200" cy="457200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11567159" y="2011680"/>
            <a:ext cx="1828800" cy="3108960"/>
          </a:xfrm>
          <a:prstGeom prst="roundRect">
            <a:avLst/>
          </a:prstGeom>
          <a:solidFill>
            <a:srgbClr val="152219"/>
          </a:solidFill>
          <a:ln w="29209">
            <a:solidFill>
              <a:srgbClr val="7EF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1658599" y="242316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7EF54D"/>
                </a:solidFill>
                <a:latin typeface="Aptos"/>
              </a:rPr>
              <a:t>5 JAHRE
HÖLLE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750039" y="324612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F5F1E6"/>
                </a:solidFill>
                <a:latin typeface="Aptos"/>
              </a:rPr>
              <a:t>Eigener
Style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2252959" y="4251960"/>
            <a:ext cx="457200" cy="457200"/>
          </a:xfrm>
          <a:prstGeom prst="rect">
            <a:avLst/>
          </a:prstGeom>
          <a:solidFill>
            <a:srgbClr val="7EF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720840" y="5669280"/>
            <a:ext cx="667512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dirty="0">
                <a:solidFill>
                  <a:srgbClr val="F5F1E6"/>
                </a:solidFill>
                <a:latin typeface="Aptos"/>
              </a:rPr>
              <a:t>= </a:t>
            </a:r>
            <a:r>
              <a:rPr sz="2000" b="1" dirty="0" err="1">
                <a:solidFill>
                  <a:srgbClr val="F5F1E6"/>
                </a:solidFill>
                <a:latin typeface="Aptos"/>
              </a:rPr>
              <a:t>ein</a:t>
            </a:r>
            <a:r>
              <a:rPr sz="2000" b="1" dirty="0">
                <a:solidFill>
                  <a:srgbClr val="F5F1E6"/>
                </a:solidFill>
                <a:latin typeface="Aptos"/>
              </a:rPr>
              <a:t> Pixel-Art-Dungeon-Game </a:t>
            </a:r>
            <a:r>
              <a:rPr sz="2000" b="1" dirty="0" err="1">
                <a:solidFill>
                  <a:srgbClr val="F5F1E6"/>
                </a:solidFill>
                <a:latin typeface="Aptos"/>
              </a:rPr>
              <a:t>mit</a:t>
            </a:r>
            <a:r>
              <a:rPr sz="2000" b="1" dirty="0">
                <a:solidFill>
                  <a:srgbClr val="F5F1E6"/>
                </a:solidFill>
                <a:latin typeface="Aptos"/>
              </a:rPr>
              <a:t> Schul-Twist und </a:t>
            </a:r>
            <a:r>
              <a:rPr sz="2000" b="1" dirty="0" err="1">
                <a:solidFill>
                  <a:srgbClr val="F5F1E6"/>
                </a:solidFill>
                <a:latin typeface="Aptos"/>
              </a:rPr>
              <a:t>schnellem</a:t>
            </a:r>
            <a:r>
              <a:rPr sz="2000" b="1" dirty="0">
                <a:solidFill>
                  <a:srgbClr val="F5F1E6"/>
                </a:solidFill>
                <a:latin typeface="Aptos"/>
              </a:rPr>
              <a:t> Roguelike-Feeling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13807440" cy="7635240"/>
          </a:xfrm>
          <a:prstGeom prst="rect">
            <a:avLst/>
          </a:prstGeom>
          <a:solidFill>
            <a:srgbClr val="122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258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488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718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7947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177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406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636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866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095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325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554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3784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2014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0243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8473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6702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4932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" y="32004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2920" y="1033271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2920" y="1746504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2920" y="2459736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2920" y="3172968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2920" y="388620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02920" y="4599431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2920" y="5312664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2920" y="6025896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02920" y="6739128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02920" y="745236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0" y="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914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1828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2743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36576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45720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5486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6400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7315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4218920" y="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4218920" y="914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4218920" y="1828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4218920" y="2743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4218920" y="36576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4218920" y="45720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4218920" y="5486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4218920" y="6400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4218920" y="7315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14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828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743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657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572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400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15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229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44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0058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0972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1887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2801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3716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0" y="0"/>
            <a:ext cx="14630400" cy="228600"/>
          </a:xfrm>
          <a:prstGeom prst="rect">
            <a:avLst/>
          </a:prstGeom>
          <a:solidFill>
            <a:srgbClr val="77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228600"/>
            <a:ext cx="14630400" cy="73152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94360" y="41148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F5F1E6"/>
                </a:solidFill>
                <a:latin typeface="Aptos Display"/>
              </a:rPr>
              <a:t>ÜBER DAS GAME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" y="1106424"/>
            <a:ext cx="2743200" cy="73152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401568" y="1106424"/>
            <a:ext cx="914400" cy="73152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03504" y="1307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6BCA5"/>
                </a:solidFill>
                <a:latin typeface="Consolas"/>
              </a:rPr>
              <a:t>CORE LOOP UND SPIELIDEE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3304520" y="384048"/>
            <a:ext cx="155448" cy="155448"/>
          </a:xfrm>
          <a:prstGeom prst="rect">
            <a:avLst/>
          </a:prstGeom>
          <a:solidFill>
            <a:srgbClr val="7EF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3533120" y="594360"/>
            <a:ext cx="155448" cy="155448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3761720" y="384048"/>
            <a:ext cx="155448" cy="155448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3990320" y="594360"/>
            <a:ext cx="155448" cy="155448"/>
          </a:xfrm>
          <a:prstGeom prst="rect">
            <a:avLst/>
          </a:prstGeom>
          <a:solidFill>
            <a:srgbClr val="5CC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4218920" y="384048"/>
            <a:ext cx="155448" cy="155448"/>
          </a:xfrm>
          <a:prstGeom prst="rect">
            <a:avLst/>
          </a:prstGeom>
          <a:solidFill>
            <a:srgbClr val="AE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3853160" y="78181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C6BCA5"/>
                </a:solidFill>
                <a:latin typeface="Consolas"/>
              </a:rPr>
              <a:t>04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8680" y="1645920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0BE48"/>
                </a:solidFill>
                <a:latin typeface="Aptos"/>
              </a:rPr>
              <a:t>5 Jahre Hölle in einem Satz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8680" y="2148840"/>
            <a:ext cx="612648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dirty="0">
                <a:solidFill>
                  <a:srgbClr val="F5F1E6"/>
                </a:solidFill>
                <a:latin typeface="Aptos"/>
              </a:rPr>
              <a:t>Ein Pixel-Art-Dungeon-Crawler, </a:t>
            </a:r>
            <a:r>
              <a:rPr sz="2000" b="0" dirty="0" err="1">
                <a:solidFill>
                  <a:srgbClr val="F5F1E6"/>
                </a:solidFill>
                <a:latin typeface="Aptos"/>
              </a:rPr>
              <a:t>bei</a:t>
            </a:r>
            <a:r>
              <a:rPr sz="2000" b="0" dirty="0">
                <a:solidFill>
                  <a:srgbClr val="F5F1E6"/>
                </a:solidFill>
                <a:latin typeface="Aptos"/>
              </a:rPr>
              <a:t> dem man </a:t>
            </a:r>
            <a:r>
              <a:rPr sz="2000" b="0" dirty="0" err="1">
                <a:solidFill>
                  <a:srgbClr val="F5F1E6"/>
                </a:solidFill>
                <a:latin typeface="Aptos"/>
              </a:rPr>
              <a:t>sich</a:t>
            </a:r>
            <a:r>
              <a:rPr sz="2000" b="0" dirty="0">
                <a:solidFill>
                  <a:srgbClr val="F5F1E6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F5F1E6"/>
                </a:solidFill>
                <a:latin typeface="Aptos"/>
              </a:rPr>
              <a:t>durch</a:t>
            </a:r>
            <a:r>
              <a:rPr sz="2000" b="0" dirty="0">
                <a:solidFill>
                  <a:srgbClr val="F5F1E6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F5F1E6"/>
                </a:solidFill>
                <a:latin typeface="Aptos"/>
              </a:rPr>
              <a:t>Schulräume</a:t>
            </a:r>
            <a:r>
              <a:rPr sz="2000" b="0" dirty="0">
                <a:solidFill>
                  <a:srgbClr val="F5F1E6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F5F1E6"/>
                </a:solidFill>
                <a:latin typeface="Aptos"/>
              </a:rPr>
              <a:t>kämpft</a:t>
            </a:r>
            <a:r>
              <a:rPr lang="de-DE" sz="2000" dirty="0">
                <a:solidFill>
                  <a:srgbClr val="F5F1E6"/>
                </a:solidFill>
                <a:latin typeface="Aptos"/>
              </a:rPr>
              <a:t> und </a:t>
            </a:r>
            <a:r>
              <a:rPr sz="2000" b="0" dirty="0" err="1">
                <a:solidFill>
                  <a:srgbClr val="F5F1E6"/>
                </a:solidFill>
                <a:latin typeface="Aptos"/>
              </a:rPr>
              <a:t>versucht</a:t>
            </a:r>
            <a:r>
              <a:rPr lang="de-DE" sz="2000" dirty="0">
                <a:solidFill>
                  <a:srgbClr val="F5F1E6"/>
                </a:solidFill>
                <a:latin typeface="Aptos"/>
              </a:rPr>
              <a:t> </a:t>
            </a:r>
            <a:r>
              <a:rPr sz="2000" b="0" dirty="0">
                <a:solidFill>
                  <a:srgbClr val="F5F1E6"/>
                </a:solidFill>
                <a:latin typeface="Aptos"/>
              </a:rPr>
              <a:t>nicht auf Note 5 </a:t>
            </a:r>
            <a:r>
              <a:rPr sz="2000" b="0" dirty="0" err="1">
                <a:solidFill>
                  <a:srgbClr val="F5F1E6"/>
                </a:solidFill>
                <a:latin typeface="Aptos"/>
              </a:rPr>
              <a:t>zu</a:t>
            </a:r>
            <a:r>
              <a:rPr sz="2000" b="0" dirty="0">
                <a:solidFill>
                  <a:srgbClr val="F5F1E6"/>
                </a:solidFill>
                <a:latin typeface="Aptos"/>
              </a:rPr>
              <a:t> fallen.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22960" y="3840480"/>
            <a:ext cx="1280160" cy="1143000"/>
          </a:xfrm>
          <a:prstGeom prst="roundRect">
            <a:avLst/>
          </a:prstGeom>
          <a:solidFill>
            <a:srgbClr val="1A281E"/>
          </a:solidFill>
          <a:ln w="25400">
            <a:solidFill>
              <a:srgbClr val="DE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14400" y="416052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DE3A31"/>
                </a:solidFill>
                <a:latin typeface="Consolas"/>
              </a:rPr>
              <a:t>RAUM
BETRETEN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76272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C6BCA5"/>
                </a:solidFill>
                <a:latin typeface="Aptos"/>
              </a:rPr>
              <a:t>›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377440" y="3840480"/>
            <a:ext cx="1280160" cy="1143000"/>
          </a:xfrm>
          <a:prstGeom prst="roundRect">
            <a:avLst/>
          </a:prstGeom>
          <a:solidFill>
            <a:srgbClr val="1A281E"/>
          </a:solidFill>
          <a:ln w="25400">
            <a:solidFill>
              <a:srgbClr val="F0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468880" y="416052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0BE48"/>
                </a:solidFill>
                <a:latin typeface="Consolas"/>
              </a:rPr>
              <a:t>GEGNER
BESIEGEN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730752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C6BCA5"/>
                </a:solidFill>
                <a:latin typeface="Aptos"/>
              </a:rPr>
              <a:t>›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931920" y="3840480"/>
            <a:ext cx="1280160" cy="1143000"/>
          </a:xfrm>
          <a:prstGeom prst="roundRect">
            <a:avLst/>
          </a:prstGeom>
          <a:solidFill>
            <a:srgbClr val="1A281E"/>
          </a:solidFill>
          <a:ln w="25400">
            <a:solidFill>
              <a:srgbClr val="7EF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913633" y="4107690"/>
            <a:ext cx="1280161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de-DE" sz="1300" b="1" dirty="0">
                <a:solidFill>
                  <a:srgbClr val="7EF54D"/>
                </a:solidFill>
                <a:latin typeface="Consolas"/>
              </a:rPr>
              <a:t>Note</a:t>
            </a:r>
          </a:p>
          <a:p>
            <a:pPr algn="ctr"/>
            <a:r>
              <a:rPr lang="de-DE" sz="1300" b="1" dirty="0">
                <a:solidFill>
                  <a:srgbClr val="7EF54D"/>
                </a:solidFill>
                <a:latin typeface="Consolas"/>
              </a:rPr>
              <a:t>Verbessern/</a:t>
            </a:r>
          </a:p>
          <a:p>
            <a:pPr algn="ctr"/>
            <a:r>
              <a:rPr lang="de-DE" sz="1300" b="1" dirty="0">
                <a:solidFill>
                  <a:srgbClr val="7EF54D"/>
                </a:solidFill>
                <a:latin typeface="Consolas"/>
              </a:rPr>
              <a:t>Verschlechtern</a:t>
            </a:r>
            <a:endParaRPr sz="1300" b="1" dirty="0">
              <a:solidFill>
                <a:srgbClr val="7EF54D"/>
              </a:solidFill>
              <a:latin typeface="Consolas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285232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C6BCA5"/>
                </a:solidFill>
                <a:latin typeface="Aptos"/>
              </a:rPr>
              <a:t>›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486400" y="3840480"/>
            <a:ext cx="1280160" cy="1143000"/>
          </a:xfrm>
          <a:prstGeom prst="roundRect">
            <a:avLst/>
          </a:prstGeom>
          <a:solidFill>
            <a:srgbClr val="1A281E"/>
          </a:solidFill>
          <a:ln w="25400">
            <a:solidFill>
              <a:srgbClr val="5CC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577840" y="416052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5CC1E3"/>
                </a:solidFill>
                <a:latin typeface="Consolas"/>
              </a:rPr>
              <a:t>BOSS
SCHAFFEN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424928" y="1847088"/>
            <a:ext cx="5943600" cy="33375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7242048" y="1664208"/>
            <a:ext cx="6089904" cy="3483864"/>
          </a:xfrm>
          <a:prstGeom prst="roundRect">
            <a:avLst/>
          </a:prstGeom>
          <a:solidFill>
            <a:srgbClr val="5F4C37"/>
          </a:solidFill>
          <a:ln w="19050">
            <a:solidFill>
              <a:srgbClr val="AE91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4" name="Picture 93" descr="gam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5943600" cy="3337560"/>
          </a:xfrm>
          <a:prstGeom prst="rect">
            <a:avLst/>
          </a:prstGeom>
        </p:spPr>
      </p:pic>
      <p:sp>
        <p:nvSpPr>
          <p:cNvPr id="95" name="Rectangle 94"/>
          <p:cNvSpPr/>
          <p:nvPr/>
        </p:nvSpPr>
        <p:spPr>
          <a:xfrm>
            <a:off x="7315200" y="4727448"/>
            <a:ext cx="594360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479792" y="4800600"/>
            <a:ext cx="561441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1E6"/>
                </a:solidFill>
                <a:latin typeface="Consolas"/>
              </a:rPr>
              <a:t>KAMPF-ANSICHT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315200" y="5486400"/>
            <a:ext cx="5943600" cy="2569464"/>
          </a:xfrm>
          <a:prstGeom prst="roundRect">
            <a:avLst/>
          </a:prstGeom>
          <a:solidFill>
            <a:srgbClr val="EBDDC1"/>
          </a:solidFill>
          <a:ln w="27940">
            <a:solidFill>
              <a:srgbClr val="7EF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7635240" y="6245352"/>
            <a:ext cx="109728" cy="109728"/>
          </a:xfrm>
          <a:prstGeom prst="rect">
            <a:avLst/>
          </a:prstGeom>
          <a:solidFill>
            <a:srgbClr val="7EF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882128" y="6167628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dirty="0" err="1">
                <a:solidFill>
                  <a:srgbClr val="241811"/>
                </a:solidFill>
                <a:latin typeface="Aptos"/>
              </a:rPr>
              <a:t>Schießen</a:t>
            </a:r>
            <a:r>
              <a:rPr sz="1800" b="0" dirty="0">
                <a:solidFill>
                  <a:srgbClr val="241811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41811"/>
                </a:solidFill>
                <a:latin typeface="Aptos"/>
              </a:rPr>
              <a:t>mit</a:t>
            </a:r>
            <a:r>
              <a:rPr sz="1800" b="0" dirty="0">
                <a:solidFill>
                  <a:srgbClr val="241811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41811"/>
                </a:solidFill>
                <a:latin typeface="Aptos"/>
              </a:rPr>
              <a:t>Pfeiltasten</a:t>
            </a:r>
            <a:endParaRPr sz="1800" b="0" dirty="0">
              <a:solidFill>
                <a:srgbClr val="241811"/>
              </a:solidFill>
              <a:latin typeface="Aptos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7635240" y="6821424"/>
            <a:ext cx="109728" cy="109728"/>
          </a:xfrm>
          <a:prstGeom prst="rect">
            <a:avLst/>
          </a:prstGeom>
          <a:solidFill>
            <a:srgbClr val="7EF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882128" y="6748272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241811"/>
                </a:solidFill>
                <a:latin typeface="Aptos"/>
              </a:rPr>
              <a:t>Zufällige Räume und Gegner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635240" y="7397496"/>
            <a:ext cx="109728" cy="109728"/>
          </a:xfrm>
          <a:prstGeom prst="rect">
            <a:avLst/>
          </a:prstGeom>
          <a:solidFill>
            <a:srgbClr val="7EF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882128" y="7324344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dirty="0">
                <a:solidFill>
                  <a:srgbClr val="241811"/>
                </a:solidFill>
                <a:latin typeface="Aptos"/>
              </a:rPr>
              <a:t>Note &amp; Energy </a:t>
            </a:r>
            <a:r>
              <a:rPr sz="1800" b="0" dirty="0" err="1">
                <a:solidFill>
                  <a:srgbClr val="241811"/>
                </a:solidFill>
                <a:latin typeface="Aptos"/>
              </a:rPr>
              <a:t>als</a:t>
            </a:r>
            <a:r>
              <a:rPr sz="1800" b="0" dirty="0">
                <a:solidFill>
                  <a:srgbClr val="241811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41811"/>
                </a:solidFill>
                <a:latin typeface="Aptos"/>
              </a:rPr>
              <a:t>Spielsystem</a:t>
            </a:r>
            <a:endParaRPr sz="1800" b="0" dirty="0">
              <a:solidFill>
                <a:srgbClr val="24181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13807440" cy="7635240"/>
          </a:xfrm>
          <a:prstGeom prst="rect">
            <a:avLst/>
          </a:prstGeom>
          <a:solidFill>
            <a:srgbClr val="122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258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488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718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7947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177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406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636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866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095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325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554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3784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2014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0243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8473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6702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4932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" y="32004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2920" y="1033271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2920" y="1746504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2920" y="2459736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2920" y="3172968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2920" y="388620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02920" y="4599431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2920" y="5312664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2920" y="6025896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02920" y="6739128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02920" y="745236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0" y="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914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1828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2743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36576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45720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5486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6400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7315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4218920" y="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4218920" y="914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4218920" y="1828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4218920" y="2743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4218920" y="36576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4218920" y="45720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4218920" y="5486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4218920" y="6400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4218920" y="7315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14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828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743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657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572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400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15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229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44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0058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0972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1887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2801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3716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0" y="0"/>
            <a:ext cx="14630400" cy="228600"/>
          </a:xfrm>
          <a:prstGeom prst="rect">
            <a:avLst/>
          </a:prstGeom>
          <a:solidFill>
            <a:srgbClr val="77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228600"/>
            <a:ext cx="14630400" cy="73152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94360" y="41148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F5F1E6"/>
                </a:solidFill>
                <a:latin typeface="Aptos Display"/>
              </a:rPr>
              <a:t>PAUSE SCREEN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" y="1106424"/>
            <a:ext cx="2743200" cy="73152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401568" y="1106424"/>
            <a:ext cx="914400" cy="73152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03504" y="1307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6BCA5"/>
                </a:solidFill>
                <a:latin typeface="Consolas"/>
              </a:rPr>
              <a:t>SAVE, CONTINUE UND EXIT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3304520" y="384048"/>
            <a:ext cx="155448" cy="155448"/>
          </a:xfrm>
          <a:prstGeom prst="rect">
            <a:avLst/>
          </a:prstGeom>
          <a:solidFill>
            <a:srgbClr val="7EF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3533120" y="594360"/>
            <a:ext cx="155448" cy="155448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3761720" y="384048"/>
            <a:ext cx="155448" cy="155448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3990320" y="594360"/>
            <a:ext cx="155448" cy="155448"/>
          </a:xfrm>
          <a:prstGeom prst="rect">
            <a:avLst/>
          </a:prstGeom>
          <a:solidFill>
            <a:srgbClr val="5CC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4218920" y="384048"/>
            <a:ext cx="155448" cy="155448"/>
          </a:xfrm>
          <a:prstGeom prst="rect">
            <a:avLst/>
          </a:prstGeom>
          <a:solidFill>
            <a:srgbClr val="AE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3853160" y="78181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C6BCA5"/>
                </a:solidFill>
                <a:latin typeface="Consolas"/>
              </a:rPr>
              <a:t>05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24128" y="1938528"/>
            <a:ext cx="6583680" cy="37033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841248" y="1755648"/>
            <a:ext cx="6729984" cy="3849624"/>
          </a:xfrm>
          <a:prstGeom prst="roundRect">
            <a:avLst/>
          </a:prstGeom>
          <a:solidFill>
            <a:srgbClr val="5F4C37"/>
          </a:solidFill>
          <a:ln w="19050">
            <a:solidFill>
              <a:srgbClr val="AE91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1" name="Picture 80" descr="gam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6583680" cy="3703320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914400" y="5184648"/>
            <a:ext cx="658368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078992" y="5257800"/>
            <a:ext cx="625449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1E6"/>
                </a:solidFill>
                <a:latin typeface="Consolas"/>
              </a:rPr>
              <a:t>PAUSE MENÜ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412480" y="1828800"/>
            <a:ext cx="5029200" cy="3703320"/>
          </a:xfrm>
          <a:prstGeom prst="roundRect">
            <a:avLst/>
          </a:prstGeom>
          <a:solidFill>
            <a:srgbClr val="142019"/>
          </a:solidFill>
          <a:ln w="25400">
            <a:solidFill>
              <a:srgbClr val="F0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686800" y="2057400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F0BE48"/>
                </a:solidFill>
                <a:latin typeface="Consolas"/>
              </a:rPr>
              <a:t>FUNKTIONEN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32520" y="2596896"/>
            <a:ext cx="109728" cy="109728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979408" y="2514600"/>
            <a:ext cx="4160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F5F1E6"/>
                </a:solidFill>
                <a:latin typeface="Aptos"/>
              </a:rPr>
              <a:t>Continue: direkt weiterspielen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732520" y="3127248"/>
            <a:ext cx="109728" cy="109728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979408" y="3044952"/>
            <a:ext cx="4160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F5F1E6"/>
                </a:solidFill>
                <a:latin typeface="Aptos"/>
              </a:rPr>
              <a:t>Save Game: Fortschritt sichern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732520" y="3657600"/>
            <a:ext cx="109728" cy="109728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979408" y="3575304"/>
            <a:ext cx="4160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F5F1E6"/>
                </a:solidFill>
                <a:latin typeface="Aptos"/>
              </a:rPr>
              <a:t>Exit: zurück ins Menü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732520" y="4187952"/>
            <a:ext cx="109728" cy="109728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979408" y="4105656"/>
            <a:ext cx="4160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F5F1E6"/>
                </a:solidFill>
                <a:latin typeface="Aptos"/>
              </a:rPr>
              <a:t>Pause ohne Spielstand zu verlieren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60120" y="6217920"/>
            <a:ext cx="12344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5F1E6"/>
                </a:solidFill>
                <a:latin typeface="Aptos"/>
              </a:rPr>
              <a:t>Der Spieler kann jederzeit kurz stoppen, speichern oder zurück ins Menü gehen.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13807440" cy="7635240"/>
          </a:xfrm>
          <a:prstGeom prst="rect">
            <a:avLst/>
          </a:prstGeom>
          <a:solidFill>
            <a:srgbClr val="122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258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488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718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7947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177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406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636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866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095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325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554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3784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2014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0243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8473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6702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4932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" y="32004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2920" y="1033271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2920" y="1746504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2920" y="2459736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2920" y="3172968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2920" y="388620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02920" y="4599431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2920" y="5312664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2920" y="6025896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02920" y="6739128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02920" y="745236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0" y="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914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1828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2743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36576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45720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5486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6400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7315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4218920" y="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4218920" y="914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4218920" y="1828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4218920" y="2743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4218920" y="36576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4218920" y="45720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4218920" y="5486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4218920" y="6400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4218920" y="7315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14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828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743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657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572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400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15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229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44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0058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0972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1887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2801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3716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0" y="0"/>
            <a:ext cx="14630400" cy="228600"/>
          </a:xfrm>
          <a:prstGeom prst="rect">
            <a:avLst/>
          </a:prstGeom>
          <a:solidFill>
            <a:srgbClr val="77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228600"/>
            <a:ext cx="14630400" cy="73152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94360" y="41148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F5F1E6"/>
                </a:solidFill>
                <a:latin typeface="Aptos Display"/>
              </a:rPr>
              <a:t>HOMESCREEN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" y="1106424"/>
            <a:ext cx="2743200" cy="73152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401568" y="1106424"/>
            <a:ext cx="914400" cy="73152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03504" y="1307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6BCA5"/>
                </a:solidFill>
                <a:latin typeface="Consolas"/>
              </a:rPr>
              <a:t>NAVIGATION VOR DEM RUN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3304520" y="384048"/>
            <a:ext cx="155448" cy="155448"/>
          </a:xfrm>
          <a:prstGeom prst="rect">
            <a:avLst/>
          </a:prstGeom>
          <a:solidFill>
            <a:srgbClr val="7EF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3533120" y="594360"/>
            <a:ext cx="155448" cy="155448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3761720" y="384048"/>
            <a:ext cx="155448" cy="155448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3990320" y="594360"/>
            <a:ext cx="155448" cy="155448"/>
          </a:xfrm>
          <a:prstGeom prst="rect">
            <a:avLst/>
          </a:prstGeom>
          <a:solidFill>
            <a:srgbClr val="5CC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4218920" y="384048"/>
            <a:ext cx="155448" cy="155448"/>
          </a:xfrm>
          <a:prstGeom prst="rect">
            <a:avLst/>
          </a:prstGeom>
          <a:solidFill>
            <a:srgbClr val="AE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3853160" y="78181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C6BCA5"/>
                </a:solidFill>
                <a:latin typeface="Consolas"/>
              </a:rPr>
              <a:t>06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24128" y="1847088"/>
            <a:ext cx="6949440" cy="38862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841248" y="1664208"/>
            <a:ext cx="7095744" cy="4032504"/>
          </a:xfrm>
          <a:prstGeom prst="roundRect">
            <a:avLst/>
          </a:prstGeom>
          <a:solidFill>
            <a:srgbClr val="5F4C37"/>
          </a:solidFill>
          <a:ln w="19050">
            <a:solidFill>
              <a:srgbClr val="AE91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1" name="Picture 80" descr="gam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6949440" cy="3886200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914400" y="5276088"/>
            <a:ext cx="694944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078992" y="5349240"/>
            <a:ext cx="662025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1E6"/>
                </a:solidFill>
                <a:latin typeface="Consolas"/>
              </a:rPr>
              <a:t>HAUPTMENÜ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412480" y="1737360"/>
            <a:ext cx="5029200" cy="3886200"/>
          </a:xfrm>
          <a:prstGeom prst="roundRect">
            <a:avLst/>
          </a:prstGeom>
          <a:solidFill>
            <a:srgbClr val="EBDDC1"/>
          </a:solidFill>
          <a:ln w="27940">
            <a:solidFill>
              <a:srgbClr val="7EF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686800" y="1965960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7EF54D"/>
                </a:solidFill>
                <a:latin typeface="Consolas"/>
              </a:rPr>
              <a:t>MENÜPUNKTE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32520" y="2496312"/>
            <a:ext cx="109728" cy="109728"/>
          </a:xfrm>
          <a:prstGeom prst="rect">
            <a:avLst/>
          </a:prstGeom>
          <a:solidFill>
            <a:srgbClr val="7EF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979408" y="242316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41811"/>
                </a:solidFill>
                <a:latin typeface="Aptos"/>
              </a:rPr>
              <a:t>Start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732520" y="3072384"/>
            <a:ext cx="109728" cy="109728"/>
          </a:xfrm>
          <a:prstGeom prst="rect">
            <a:avLst/>
          </a:prstGeom>
          <a:solidFill>
            <a:srgbClr val="7EF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979408" y="2999232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41811"/>
                </a:solidFill>
                <a:latin typeface="Aptos"/>
              </a:rPr>
              <a:t>Stats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732520" y="3648456"/>
            <a:ext cx="109728" cy="109728"/>
          </a:xfrm>
          <a:prstGeom prst="rect">
            <a:avLst/>
          </a:prstGeom>
          <a:solidFill>
            <a:srgbClr val="7EF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979408" y="3575304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41811"/>
                </a:solidFill>
                <a:latin typeface="Aptos"/>
              </a:rPr>
              <a:t>Achievements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732520" y="4224528"/>
            <a:ext cx="109728" cy="109728"/>
          </a:xfrm>
          <a:prstGeom prst="rect">
            <a:avLst/>
          </a:prstGeom>
          <a:solidFill>
            <a:srgbClr val="7EF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979408" y="4151376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41811"/>
                </a:solidFill>
                <a:latin typeface="Aptos"/>
              </a:rPr>
              <a:t>Load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732520" y="4800600"/>
            <a:ext cx="109728" cy="109728"/>
          </a:xfrm>
          <a:prstGeom prst="rect">
            <a:avLst/>
          </a:prstGeom>
          <a:solidFill>
            <a:srgbClr val="7EF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979408" y="4727448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41811"/>
                </a:solidFill>
                <a:latin typeface="Aptos"/>
              </a:rPr>
              <a:t>Exit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14400" y="6172200"/>
            <a:ext cx="12344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>
                <a:solidFill>
                  <a:srgbClr val="F5F1E6"/>
                </a:solidFill>
                <a:latin typeface="Aptos"/>
              </a:rPr>
              <a:t>Ein klarer Hub: Der Spieler entscheidet schnell, ob er startet, Stats checkt oder einen Spielstand lädt.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13807440" cy="7635240"/>
          </a:xfrm>
          <a:prstGeom prst="rect">
            <a:avLst/>
          </a:prstGeom>
          <a:solidFill>
            <a:srgbClr val="122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258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488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718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7947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177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406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636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866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095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325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554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3784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2014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0243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8473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6702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4932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" y="32004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2920" y="1033271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2920" y="1746504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2920" y="2459736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2920" y="3172968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2920" y="388620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02920" y="4599431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2920" y="5312664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2920" y="6025896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02920" y="6739128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02920" y="745236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0" y="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914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1828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2743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36576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45720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5486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6400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7315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4218920" y="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4218920" y="914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4218920" y="1828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4218920" y="2743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4218920" y="36576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4218920" y="45720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4218920" y="5486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4218920" y="6400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4218920" y="7315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14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828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743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657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572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400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15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229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44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0058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0972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1887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2801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3716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0" y="0"/>
            <a:ext cx="14630400" cy="228600"/>
          </a:xfrm>
          <a:prstGeom prst="rect">
            <a:avLst/>
          </a:prstGeom>
          <a:solidFill>
            <a:srgbClr val="77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228600"/>
            <a:ext cx="14630400" cy="73152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94360" y="41148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F5F1E6"/>
                </a:solidFill>
                <a:latin typeface="Aptos Display"/>
              </a:rPr>
              <a:t>SPIEL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" y="1106424"/>
            <a:ext cx="2743200" cy="73152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401568" y="1106424"/>
            <a:ext cx="914400" cy="73152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03504" y="1307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6BCA5"/>
                </a:solidFill>
                <a:latin typeface="Consolas"/>
              </a:rPr>
              <a:t>RÄUME, GEGNER UND ENERGY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3304520" y="384048"/>
            <a:ext cx="155448" cy="155448"/>
          </a:xfrm>
          <a:prstGeom prst="rect">
            <a:avLst/>
          </a:prstGeom>
          <a:solidFill>
            <a:srgbClr val="7EF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3533120" y="594360"/>
            <a:ext cx="155448" cy="155448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3761720" y="384048"/>
            <a:ext cx="155448" cy="155448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3990320" y="594360"/>
            <a:ext cx="155448" cy="155448"/>
          </a:xfrm>
          <a:prstGeom prst="rect">
            <a:avLst/>
          </a:prstGeom>
          <a:solidFill>
            <a:srgbClr val="5CC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4218920" y="384048"/>
            <a:ext cx="155448" cy="155448"/>
          </a:xfrm>
          <a:prstGeom prst="rect">
            <a:avLst/>
          </a:prstGeom>
          <a:solidFill>
            <a:srgbClr val="AE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3853160" y="78181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C6BCA5"/>
                </a:solidFill>
                <a:latin typeface="Consolas"/>
              </a:rPr>
              <a:t>07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32688" y="1847088"/>
            <a:ext cx="6309360" cy="35661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749808" y="1664208"/>
            <a:ext cx="6455664" cy="3712464"/>
          </a:xfrm>
          <a:prstGeom prst="roundRect">
            <a:avLst/>
          </a:prstGeom>
          <a:solidFill>
            <a:srgbClr val="5F4C37"/>
          </a:solidFill>
          <a:ln w="19050">
            <a:solidFill>
              <a:srgbClr val="AE91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1" name="Picture 80" descr="gam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6309360" cy="3566160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822960" y="4956048"/>
            <a:ext cx="630936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87552" y="5029200"/>
            <a:ext cx="598017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1E6"/>
                </a:solidFill>
                <a:latin typeface="Consolas"/>
              </a:rPr>
              <a:t>RAUM MIT GEGNERN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790688" y="1847088"/>
            <a:ext cx="6126480" cy="34290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7607808" y="1664208"/>
            <a:ext cx="6272784" cy="3575304"/>
          </a:xfrm>
          <a:prstGeom prst="roundRect">
            <a:avLst/>
          </a:prstGeom>
          <a:solidFill>
            <a:srgbClr val="5F4C37"/>
          </a:solidFill>
          <a:ln w="19050">
            <a:solidFill>
              <a:srgbClr val="AE91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6" name="Picture 85" descr="gam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737360"/>
            <a:ext cx="6126480" cy="3429000"/>
          </a:xfrm>
          <a:prstGeom prst="rect">
            <a:avLst/>
          </a:prstGeom>
        </p:spPr>
      </p:pic>
      <p:sp>
        <p:nvSpPr>
          <p:cNvPr id="87" name="Rectangle 86"/>
          <p:cNvSpPr/>
          <p:nvPr/>
        </p:nvSpPr>
        <p:spPr>
          <a:xfrm>
            <a:off x="7680960" y="4818888"/>
            <a:ext cx="612648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845552" y="4892040"/>
            <a:ext cx="579729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1E6"/>
                </a:solidFill>
                <a:latin typeface="Consolas"/>
              </a:rPr>
              <a:t>RAUMÜBERGANG / LEVEL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22960" y="5669280"/>
            <a:ext cx="6309360" cy="2157984"/>
          </a:xfrm>
          <a:prstGeom prst="roundRect">
            <a:avLst/>
          </a:prstGeom>
          <a:solidFill>
            <a:srgbClr val="142019"/>
          </a:solidFill>
          <a:ln w="25400">
            <a:solidFill>
              <a:srgbClr val="DE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97280" y="5897880"/>
            <a:ext cx="5760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DE3A31"/>
                </a:solidFill>
                <a:latin typeface="Consolas"/>
              </a:rPr>
              <a:t>MECHANIKEN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143000" y="6437376"/>
            <a:ext cx="109728" cy="109728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389888" y="6355080"/>
            <a:ext cx="5440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F5F1E6"/>
                </a:solidFill>
                <a:latin typeface="Aptos"/>
              </a:rPr>
              <a:t>Schießen mit Pfeiltasten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43000" y="6967728"/>
            <a:ext cx="109728" cy="109728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389888" y="6885432"/>
            <a:ext cx="5440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F5F1E6"/>
                </a:solidFill>
                <a:latin typeface="Aptos"/>
              </a:rPr>
              <a:t>Zufällige Räume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43000" y="7498080"/>
            <a:ext cx="109728" cy="109728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389888" y="7415784"/>
            <a:ext cx="5440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F5F1E6"/>
                </a:solidFill>
                <a:latin typeface="Aptos"/>
              </a:rPr>
              <a:t>Energy leer = Game Over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680960" y="5669280"/>
            <a:ext cx="6126480" cy="2176272"/>
          </a:xfrm>
          <a:prstGeom prst="roundRect">
            <a:avLst/>
          </a:prstGeom>
          <a:solidFill>
            <a:srgbClr val="142019"/>
          </a:solidFill>
          <a:ln w="25400">
            <a:solidFill>
              <a:srgbClr val="F0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955280" y="5897880"/>
            <a:ext cx="5577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F0BE48"/>
                </a:solidFill>
                <a:latin typeface="Consolas"/>
              </a:rPr>
              <a:t>SCHUL-SYSTEM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001000" y="6437376"/>
            <a:ext cx="109728" cy="109728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247888" y="6355080"/>
            <a:ext cx="525780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dirty="0">
                <a:solidFill>
                  <a:srgbClr val="F5F1E6"/>
                </a:solidFill>
                <a:latin typeface="Aptos"/>
              </a:rPr>
              <a:t>Note </a:t>
            </a:r>
            <a:r>
              <a:rPr sz="1700" b="0" dirty="0" err="1">
                <a:solidFill>
                  <a:srgbClr val="F5F1E6"/>
                </a:solidFill>
                <a:latin typeface="Aptos"/>
              </a:rPr>
              <a:t>wird</a:t>
            </a:r>
            <a:r>
              <a:rPr sz="1700" b="0" dirty="0">
                <a:solidFill>
                  <a:srgbClr val="F5F1E6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F5F1E6"/>
                </a:solidFill>
                <a:latin typeface="Aptos"/>
              </a:rPr>
              <a:t>schlechter</a:t>
            </a:r>
            <a:r>
              <a:rPr sz="1700" b="0" dirty="0">
                <a:solidFill>
                  <a:srgbClr val="F5F1E6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F5F1E6"/>
                </a:solidFill>
                <a:latin typeface="Aptos"/>
              </a:rPr>
              <a:t>durch</a:t>
            </a:r>
            <a:r>
              <a:rPr sz="1700" b="0" dirty="0">
                <a:solidFill>
                  <a:srgbClr val="F5F1E6"/>
                </a:solidFill>
                <a:latin typeface="Aptos"/>
              </a:rPr>
              <a:t> </a:t>
            </a:r>
            <a:r>
              <a:rPr lang="de-DE" sz="1700" dirty="0" err="1">
                <a:solidFill>
                  <a:srgbClr val="F5F1E6"/>
                </a:solidFill>
                <a:latin typeface="Aptos"/>
              </a:rPr>
              <a:t>gehitet</a:t>
            </a:r>
            <a:r>
              <a:rPr lang="de-DE" sz="1700" dirty="0">
                <a:solidFill>
                  <a:srgbClr val="F5F1E6"/>
                </a:solidFill>
                <a:latin typeface="Aptos"/>
              </a:rPr>
              <a:t> werden</a:t>
            </a:r>
            <a:endParaRPr sz="1700" b="0" dirty="0">
              <a:solidFill>
                <a:srgbClr val="F5F1E6"/>
              </a:solidFill>
              <a:latin typeface="Aptos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8001000" y="6967728"/>
            <a:ext cx="109728" cy="109728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247888" y="6885432"/>
            <a:ext cx="5257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F5F1E6"/>
                </a:solidFill>
                <a:latin typeface="Aptos"/>
              </a:rPr>
              <a:t>Nach Bossfight zählt die aktuelle Note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001000" y="7498080"/>
            <a:ext cx="109728" cy="109728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247888" y="7415784"/>
            <a:ext cx="5257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F5F1E6"/>
                </a:solidFill>
                <a:latin typeface="Aptos"/>
              </a:rPr>
              <a:t>Note 5 = Spiel vorbei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13807440" cy="7635240"/>
          </a:xfrm>
          <a:prstGeom prst="rect">
            <a:avLst/>
          </a:prstGeom>
          <a:solidFill>
            <a:srgbClr val="122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258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488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718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7947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177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406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636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866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095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325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554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3784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2014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0243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8473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6702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4932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" y="32004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2920" y="1033271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2920" y="1746504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2920" y="2459736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2920" y="3172968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2920" y="388620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02920" y="4599431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2920" y="5312664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2920" y="6025896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02920" y="6739128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02920" y="745236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0" y="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914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1828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2743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36576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45720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5486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6400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7315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4218920" y="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4218920" y="914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4218920" y="1828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4218920" y="2743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4218920" y="36576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4218920" y="45720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4218920" y="5486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4218920" y="6400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4218920" y="7315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14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828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743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657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572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400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15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229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44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0058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0972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1887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2801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3716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0" y="0"/>
            <a:ext cx="14630400" cy="228600"/>
          </a:xfrm>
          <a:prstGeom prst="rect">
            <a:avLst/>
          </a:prstGeom>
          <a:solidFill>
            <a:srgbClr val="77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228600"/>
            <a:ext cx="14630400" cy="73152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94360" y="41148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F5F1E6"/>
                </a:solidFill>
                <a:latin typeface="Aptos Display"/>
              </a:rPr>
              <a:t>SHOP &amp; ITEMS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" y="1106424"/>
            <a:ext cx="2743200" cy="73152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401568" y="1106424"/>
            <a:ext cx="914400" cy="73152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03504" y="1307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6BCA5"/>
                </a:solidFill>
                <a:latin typeface="Consolas"/>
              </a:rPr>
              <a:t>ENERGY, NOTE UND SCHUL-POWERUPS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3304520" y="384048"/>
            <a:ext cx="155448" cy="155448"/>
          </a:xfrm>
          <a:prstGeom prst="rect">
            <a:avLst/>
          </a:prstGeom>
          <a:solidFill>
            <a:srgbClr val="7EF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3533120" y="594360"/>
            <a:ext cx="155448" cy="155448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3761720" y="384048"/>
            <a:ext cx="155448" cy="155448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3990320" y="594360"/>
            <a:ext cx="155448" cy="155448"/>
          </a:xfrm>
          <a:prstGeom prst="rect">
            <a:avLst/>
          </a:prstGeom>
          <a:solidFill>
            <a:srgbClr val="5CC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4218920" y="384048"/>
            <a:ext cx="155448" cy="155448"/>
          </a:xfrm>
          <a:prstGeom prst="rect">
            <a:avLst/>
          </a:prstGeom>
          <a:solidFill>
            <a:srgbClr val="AE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3853160" y="78181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C6BCA5"/>
                </a:solidFill>
                <a:latin typeface="Consolas"/>
              </a:rPr>
              <a:t>08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32688" y="1755648"/>
            <a:ext cx="6583680" cy="37033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749808" y="1572768"/>
            <a:ext cx="6729984" cy="3849624"/>
          </a:xfrm>
          <a:prstGeom prst="roundRect">
            <a:avLst/>
          </a:prstGeom>
          <a:solidFill>
            <a:srgbClr val="5F4C37"/>
          </a:solidFill>
          <a:ln w="19050">
            <a:solidFill>
              <a:srgbClr val="AE91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1" name="Picture 80" descr="gam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6583680" cy="3703320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822960" y="5001768"/>
            <a:ext cx="658368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87552" y="5074920"/>
            <a:ext cx="625449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1E6"/>
                </a:solidFill>
                <a:latin typeface="Consolas"/>
              </a:rPr>
              <a:t>SHOP-SCREEN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46720" y="17373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0BE48"/>
                </a:solidFill>
                <a:latin typeface="Aptos"/>
              </a:rPr>
              <a:t>SHOP LOGIK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092440" y="2331720"/>
            <a:ext cx="5120640" cy="822960"/>
          </a:xfrm>
          <a:prstGeom prst="roundRect">
            <a:avLst/>
          </a:prstGeom>
          <a:solidFill>
            <a:srgbClr val="152219"/>
          </a:solidFill>
          <a:ln w="21590">
            <a:solidFill>
              <a:srgbClr val="7EF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366760" y="2478024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7EF54D"/>
                </a:solidFill>
                <a:latin typeface="Aptos"/>
              </a:rPr>
              <a:t>3 feste Items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87000" y="24871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F5F1E6"/>
                </a:solidFill>
                <a:latin typeface="Aptos"/>
              </a:rPr>
              <a:t>Der Shop zeigt immer dieselben Item-Typen.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092440" y="3474720"/>
            <a:ext cx="5120640" cy="822960"/>
          </a:xfrm>
          <a:prstGeom prst="roundRect">
            <a:avLst/>
          </a:prstGeom>
          <a:solidFill>
            <a:srgbClr val="152219"/>
          </a:solidFill>
          <a:ln w="21590">
            <a:solidFill>
              <a:srgbClr val="F0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66760" y="3621024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0BE48"/>
                </a:solidFill>
                <a:latin typeface="Aptos"/>
              </a:rPr>
              <a:t>Note als Währung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287000" y="3630168"/>
            <a:ext cx="27432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dirty="0">
                <a:solidFill>
                  <a:srgbClr val="F5F1E6"/>
                </a:solidFill>
                <a:latin typeface="Aptos"/>
              </a:rPr>
              <a:t>Die Note </a:t>
            </a:r>
            <a:r>
              <a:rPr sz="1300" b="0" dirty="0" err="1">
                <a:solidFill>
                  <a:srgbClr val="F5F1E6"/>
                </a:solidFill>
                <a:latin typeface="Aptos"/>
              </a:rPr>
              <a:t>wird</a:t>
            </a:r>
            <a:r>
              <a:rPr sz="1300" b="0" dirty="0">
                <a:solidFill>
                  <a:srgbClr val="F5F1E6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F5F1E6"/>
                </a:solidFill>
                <a:latin typeface="Aptos"/>
              </a:rPr>
              <a:t>zum</a:t>
            </a:r>
            <a:r>
              <a:rPr sz="1300" b="0" dirty="0">
                <a:solidFill>
                  <a:srgbClr val="F5F1E6"/>
                </a:solidFill>
                <a:latin typeface="Aptos"/>
              </a:rPr>
              <a:t> Risiko/Kosten</a:t>
            </a:r>
            <a:r>
              <a:rPr lang="de-DE" sz="1300" b="0" dirty="0">
                <a:solidFill>
                  <a:srgbClr val="F5F1E6"/>
                </a:solidFill>
                <a:latin typeface="Aptos"/>
              </a:rPr>
              <a:t> </a:t>
            </a:r>
            <a:r>
              <a:rPr sz="1300" b="0" dirty="0">
                <a:solidFill>
                  <a:srgbClr val="F5F1E6"/>
                </a:solidFill>
                <a:latin typeface="Aptos"/>
              </a:rPr>
              <a:t>System.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092440" y="4617720"/>
            <a:ext cx="5120640" cy="822960"/>
          </a:xfrm>
          <a:prstGeom prst="roundRect">
            <a:avLst/>
          </a:prstGeom>
          <a:solidFill>
            <a:srgbClr val="152219"/>
          </a:solidFill>
          <a:ln w="21590">
            <a:solidFill>
              <a:srgbClr val="DE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366760" y="4764024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DE3A31"/>
                </a:solidFill>
                <a:latin typeface="Aptos"/>
              </a:rPr>
              <a:t>Energy als Belohnung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87000" y="47731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F5F1E6"/>
                </a:solidFill>
                <a:latin typeface="Aptos"/>
              </a:rPr>
              <a:t>Items helfen, länger im Run zu bleiben.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68680" y="5989320"/>
            <a:ext cx="1261872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dirty="0" err="1">
                <a:solidFill>
                  <a:srgbClr val="F5F1E6"/>
                </a:solidFill>
                <a:latin typeface="Aptos"/>
              </a:rPr>
              <a:t>Leberkässemmel</a:t>
            </a:r>
            <a:r>
              <a:rPr sz="2000" b="1" dirty="0">
                <a:solidFill>
                  <a:srgbClr val="F5F1E6"/>
                </a:solidFill>
                <a:latin typeface="Aptos"/>
              </a:rPr>
              <a:t>, Monster und </a:t>
            </a:r>
            <a:r>
              <a:rPr sz="2000" b="1" dirty="0" err="1">
                <a:solidFill>
                  <a:srgbClr val="F5F1E6"/>
                </a:solidFill>
                <a:latin typeface="Aptos"/>
              </a:rPr>
              <a:t>Redbull</a:t>
            </a:r>
            <a:r>
              <a:rPr sz="2000" b="1" dirty="0">
                <a:solidFill>
                  <a:srgbClr val="F5F1E6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F5F1E6"/>
                </a:solidFill>
                <a:latin typeface="Aptos"/>
              </a:rPr>
              <a:t>passen</a:t>
            </a:r>
            <a:r>
              <a:rPr sz="2000" b="1" dirty="0">
                <a:solidFill>
                  <a:srgbClr val="F5F1E6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F5F1E6"/>
                </a:solidFill>
                <a:latin typeface="Aptos"/>
              </a:rPr>
              <a:t>zum</a:t>
            </a:r>
            <a:r>
              <a:rPr sz="2000" b="1" dirty="0">
                <a:solidFill>
                  <a:srgbClr val="F5F1E6"/>
                </a:solidFill>
                <a:latin typeface="Aptos"/>
              </a:rPr>
              <a:t> Schul-Setting.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13807440" cy="7635240"/>
          </a:xfrm>
          <a:prstGeom prst="rect">
            <a:avLst/>
          </a:prstGeom>
          <a:solidFill>
            <a:srgbClr val="122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258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488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718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7947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177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406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636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866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095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325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554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3784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2014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0243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8473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6702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4932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" y="32004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2920" y="1033271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2920" y="1746504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2920" y="2459736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2920" y="3172968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2920" y="388620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02920" y="4599431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2920" y="5312664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2920" y="6025896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02920" y="6739128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02920" y="745236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0" y="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914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1828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2743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36576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45720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5486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6400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7315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4218920" y="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4218920" y="914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4218920" y="1828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4218920" y="2743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4218920" y="36576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4218920" y="45720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4218920" y="5486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4218920" y="6400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4218920" y="7315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14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828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743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657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572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400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15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229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44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0058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0972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1887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2801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3716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0" y="0"/>
            <a:ext cx="14630400" cy="228600"/>
          </a:xfrm>
          <a:prstGeom prst="rect">
            <a:avLst/>
          </a:prstGeom>
          <a:solidFill>
            <a:srgbClr val="77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228600"/>
            <a:ext cx="14630400" cy="73152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94360" y="41148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F5F1E6"/>
                </a:solidFill>
                <a:latin typeface="Aptos Display"/>
              </a:rPr>
              <a:t>HERAUSFORDERUNGEN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" y="1106424"/>
            <a:ext cx="2743200" cy="73152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401568" y="1106424"/>
            <a:ext cx="914400" cy="73152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03504" y="1307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6BCA5"/>
                </a:solidFill>
                <a:latin typeface="Consolas"/>
              </a:rPr>
              <a:t>WAS BEIM ENTWICKELN SCHWIERIG WAR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3304520" y="384048"/>
            <a:ext cx="155448" cy="155448"/>
          </a:xfrm>
          <a:prstGeom prst="rect">
            <a:avLst/>
          </a:prstGeom>
          <a:solidFill>
            <a:srgbClr val="7EF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3533120" y="594360"/>
            <a:ext cx="155448" cy="155448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3761720" y="384048"/>
            <a:ext cx="155448" cy="155448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3990320" y="594360"/>
            <a:ext cx="155448" cy="155448"/>
          </a:xfrm>
          <a:prstGeom prst="rect">
            <a:avLst/>
          </a:prstGeom>
          <a:solidFill>
            <a:srgbClr val="5CC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4218920" y="384048"/>
            <a:ext cx="155448" cy="155448"/>
          </a:xfrm>
          <a:prstGeom prst="rect">
            <a:avLst/>
          </a:prstGeom>
          <a:solidFill>
            <a:srgbClr val="AE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3853160" y="78181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C6BCA5"/>
                </a:solidFill>
                <a:latin typeface="Consolas"/>
              </a:rPr>
              <a:t>09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14400" y="1783080"/>
            <a:ext cx="5760720" cy="960120"/>
          </a:xfrm>
          <a:prstGeom prst="roundRect">
            <a:avLst/>
          </a:prstGeom>
          <a:solidFill>
            <a:srgbClr val="17231B"/>
          </a:solidFill>
          <a:ln w="22860">
            <a:solidFill>
              <a:srgbClr val="DE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143000" y="2039112"/>
            <a:ext cx="594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DE3A31"/>
                </a:solidFill>
                <a:latin typeface="Consolas"/>
              </a:rPr>
              <a:t>01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20240" y="194767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F5F1E6"/>
                </a:solidFill>
                <a:latin typeface="Aptos"/>
              </a:rPr>
              <a:t>WPF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920240" y="2313432"/>
            <a:ext cx="43891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de-DE" sz="1200" b="0" dirty="0">
                <a:solidFill>
                  <a:srgbClr val="C6BCA5"/>
                </a:solidFill>
                <a:latin typeface="Aptos"/>
              </a:rPr>
              <a:t>Nicht für Games gemacht</a:t>
            </a:r>
            <a:endParaRPr sz="1200" b="0" dirty="0">
              <a:solidFill>
                <a:srgbClr val="C6BCA5"/>
              </a:solidFill>
              <a:latin typeface="Aptos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7452360" y="1783080"/>
            <a:ext cx="5760720" cy="960120"/>
          </a:xfrm>
          <a:prstGeom prst="roundRect">
            <a:avLst/>
          </a:prstGeom>
          <a:solidFill>
            <a:srgbClr val="17231B"/>
          </a:solidFill>
          <a:ln w="22860">
            <a:solidFill>
              <a:srgbClr val="F0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680960" y="2039112"/>
            <a:ext cx="594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0BE48"/>
                </a:solidFill>
                <a:latin typeface="Consolas"/>
              </a:rPr>
              <a:t>02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58200" y="194767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F5F1E6"/>
                </a:solidFill>
                <a:latin typeface="Aptos"/>
              </a:rPr>
              <a:t>OPTIMIERUNG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58200" y="2313432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6BCA5"/>
                </a:solidFill>
                <a:latin typeface="Aptos"/>
              </a:rPr>
              <a:t>Performance trotz vieler Objekte stabil halten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14400" y="3291839"/>
            <a:ext cx="5760720" cy="960120"/>
          </a:xfrm>
          <a:prstGeom prst="roundRect">
            <a:avLst/>
          </a:prstGeom>
          <a:solidFill>
            <a:srgbClr val="17231B"/>
          </a:solidFill>
          <a:ln w="22860">
            <a:solidFill>
              <a:srgbClr val="7EF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143000" y="3547871"/>
            <a:ext cx="594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7EF54D"/>
                </a:solidFill>
                <a:latin typeface="Consolas"/>
              </a:rPr>
              <a:t>03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920240" y="3456431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F5F1E6"/>
                </a:solidFill>
                <a:latin typeface="Aptos"/>
              </a:rPr>
              <a:t>SAVE / LOAD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920240" y="3822191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6BCA5"/>
                </a:solidFill>
                <a:latin typeface="Aptos"/>
              </a:rPr>
              <a:t>Spielstand speichern und korrekt laden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452360" y="3291839"/>
            <a:ext cx="5760720" cy="960120"/>
          </a:xfrm>
          <a:prstGeom prst="roundRect">
            <a:avLst/>
          </a:prstGeom>
          <a:solidFill>
            <a:srgbClr val="17231B"/>
          </a:solidFill>
          <a:ln w="22860">
            <a:solidFill>
              <a:srgbClr val="5CC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680960" y="3547871"/>
            <a:ext cx="594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5CC1E3"/>
                </a:solidFill>
                <a:latin typeface="Consolas"/>
              </a:rPr>
              <a:t>04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458200" y="3456431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F5F1E6"/>
                </a:solidFill>
                <a:latin typeface="Aptos"/>
              </a:rPr>
              <a:t>RAUMÜBERGÄNGE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58200" y="3822191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6BCA5"/>
                </a:solidFill>
                <a:latin typeface="Aptos"/>
              </a:rPr>
              <a:t>Objekte beim Raumwechsel richtig austauschen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160520" y="4800600"/>
            <a:ext cx="5760720" cy="960120"/>
          </a:xfrm>
          <a:prstGeom prst="roundRect">
            <a:avLst/>
          </a:prstGeom>
          <a:solidFill>
            <a:srgbClr val="17231B"/>
          </a:solidFill>
          <a:ln w="22860">
            <a:solidFill>
              <a:srgbClr val="A8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389120" y="5056632"/>
            <a:ext cx="594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A85CE0"/>
                </a:solidFill>
                <a:latin typeface="Consolas"/>
              </a:rPr>
              <a:t>05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66360" y="496519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F5F1E6"/>
                </a:solidFill>
                <a:latin typeface="Aptos"/>
              </a:rPr>
              <a:t>ANIMATIONEN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66360" y="5330952"/>
            <a:ext cx="43891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de-DE" sz="1200" b="0" dirty="0">
                <a:solidFill>
                  <a:srgbClr val="C6BCA5"/>
                </a:solidFill>
                <a:latin typeface="Aptos"/>
              </a:rPr>
              <a:t>Animationen sind zu langsam in der EXE</a:t>
            </a:r>
            <a:endParaRPr sz="1200" b="0" dirty="0">
              <a:solidFill>
                <a:srgbClr val="C6BCA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13807440" cy="7635240"/>
          </a:xfrm>
          <a:prstGeom prst="rect">
            <a:avLst/>
          </a:prstGeom>
          <a:solidFill>
            <a:srgbClr val="122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258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488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718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7947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177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406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636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866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095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325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554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3784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2014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0243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8473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6702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4932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" y="32004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2920" y="1033271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2920" y="1746504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2920" y="2459736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2920" y="3172968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2920" y="388620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02920" y="4599431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2920" y="5312664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2920" y="6025896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02920" y="6739128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02920" y="745236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0" y="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914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1828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2743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36576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45720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5486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6400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7315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4218920" y="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4218920" y="914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4218920" y="1828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4218920" y="2743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4218920" y="36576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4218920" y="45720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4218920" y="5486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4218920" y="6400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4218920" y="7315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14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828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743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657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572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400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15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229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44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0058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0972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1887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2801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3716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0" y="0"/>
            <a:ext cx="14630400" cy="228600"/>
          </a:xfrm>
          <a:prstGeom prst="rect">
            <a:avLst/>
          </a:prstGeom>
          <a:solidFill>
            <a:srgbClr val="77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228600"/>
            <a:ext cx="14630400" cy="73152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94360" y="41148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F5F1E6"/>
                </a:solidFill>
                <a:latin typeface="Aptos Display"/>
              </a:rPr>
              <a:t>DEMO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" y="1106424"/>
            <a:ext cx="2743200" cy="73152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401568" y="1106424"/>
            <a:ext cx="914400" cy="73152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03504" y="1307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6BCA5"/>
                </a:solidFill>
                <a:latin typeface="Consolas"/>
              </a:rPr>
              <a:t>LIVE-EINBLICK INS GAME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3304520" y="384048"/>
            <a:ext cx="155448" cy="155448"/>
          </a:xfrm>
          <a:prstGeom prst="rect">
            <a:avLst/>
          </a:prstGeom>
          <a:solidFill>
            <a:srgbClr val="7EF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3533120" y="594360"/>
            <a:ext cx="155448" cy="155448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3761720" y="384048"/>
            <a:ext cx="155448" cy="155448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3990320" y="594360"/>
            <a:ext cx="155448" cy="155448"/>
          </a:xfrm>
          <a:prstGeom prst="rect">
            <a:avLst/>
          </a:prstGeom>
          <a:solidFill>
            <a:srgbClr val="5CC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4218920" y="384048"/>
            <a:ext cx="155448" cy="155448"/>
          </a:xfrm>
          <a:prstGeom prst="rect">
            <a:avLst/>
          </a:prstGeom>
          <a:solidFill>
            <a:srgbClr val="AE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3853160" y="78181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C6BCA5"/>
                </a:solidFill>
                <a:latin typeface="Consolas"/>
              </a:rPr>
              <a:t>10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252728" y="1755648"/>
            <a:ext cx="7863840" cy="44348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1069848" y="1572768"/>
            <a:ext cx="8010144" cy="4581144"/>
          </a:xfrm>
          <a:prstGeom prst="roundRect">
            <a:avLst/>
          </a:prstGeom>
          <a:solidFill>
            <a:srgbClr val="5F4C37"/>
          </a:solidFill>
          <a:ln w="19050">
            <a:solidFill>
              <a:srgbClr val="AE91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1" name="Picture 80" descr="gam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45920"/>
            <a:ext cx="7863840" cy="4434840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1143000" y="5733288"/>
            <a:ext cx="786384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307592" y="5806440"/>
            <a:ext cx="753465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1E6"/>
                </a:solidFill>
                <a:latin typeface="Consolas"/>
              </a:rPr>
              <a:t>DEMO SZENE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784080" y="1965960"/>
            <a:ext cx="3474720" cy="1828800"/>
          </a:xfrm>
          <a:prstGeom prst="roundRect">
            <a:avLst/>
          </a:prstGeom>
          <a:solidFill>
            <a:srgbClr val="18241A"/>
          </a:solidFill>
          <a:ln w="29209">
            <a:solidFill>
              <a:srgbClr val="F0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784080" y="233172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200" b="1">
                <a:solidFill>
                  <a:srgbClr val="F0BE48"/>
                </a:solidFill>
                <a:latin typeface="Aptos Display"/>
              </a:rPr>
              <a:t>PLAY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784080" y="30175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>
                <a:solidFill>
                  <a:srgbClr val="F5F1E6"/>
                </a:solidFill>
                <a:latin typeface="Consolas"/>
              </a:rPr>
              <a:t>ENTER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88720" y="6400800"/>
            <a:ext cx="12344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>
                <a:solidFill>
                  <a:srgbClr val="F5F1E6"/>
                </a:solidFill>
                <a:latin typeface="Aptos"/>
              </a:rPr>
              <a:t>Jetzt zeigen wir: Steuerung, Räume, Gegner, Shop und was passiert, wenn Energy oder Note kritisch werden.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13807440" cy="7635240"/>
          </a:xfrm>
          <a:prstGeom prst="rect">
            <a:avLst/>
          </a:prstGeom>
          <a:solidFill>
            <a:srgbClr val="122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258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488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718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7947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177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406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636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866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095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325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554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3784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20140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02436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84732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67028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493240" y="320040"/>
            <a:ext cx="0" cy="745236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" y="32004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2920" y="1033271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2920" y="1746504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2920" y="2459736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2920" y="3172968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2920" y="388620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02920" y="4599431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2920" y="5312664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2920" y="6025896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02920" y="6739128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02920" y="7452360"/>
            <a:ext cx="13624560" cy="0"/>
          </a:xfrm>
          <a:prstGeom prst="line">
            <a:avLst/>
          </a:prstGeom>
          <a:ln w="8890">
            <a:solidFill>
              <a:srgbClr val="2648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0" y="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914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1828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2743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36576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45720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5486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6400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7315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4218920" y="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4218920" y="914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4218920" y="1828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4218920" y="2743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4218920" y="36576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4218920" y="45720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4218920" y="54864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4218920" y="64008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4218920" y="7315200"/>
            <a:ext cx="411480" cy="868680"/>
          </a:xfrm>
          <a:prstGeom prst="rect">
            <a:avLst/>
          </a:prstGeom>
          <a:solidFill>
            <a:srgbClr val="AE9165"/>
          </a:solidFill>
          <a:ln w="12700">
            <a:solidFill>
              <a:srgbClr val="5F4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14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828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743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657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572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400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15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229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44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00584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09728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18872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28016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3716000" y="7909560"/>
            <a:ext cx="914400" cy="320040"/>
          </a:xfrm>
          <a:prstGeom prst="rect">
            <a:avLst/>
          </a:prstGeom>
          <a:solidFill>
            <a:srgbClr val="522A12"/>
          </a:solidFill>
          <a:ln w="12700">
            <a:solidFill>
              <a:srgbClr val="77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8202168" y="2075688"/>
            <a:ext cx="5166360" cy="292608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8019288" y="1892808"/>
            <a:ext cx="5312664" cy="3072384"/>
          </a:xfrm>
          <a:prstGeom prst="roundRect">
            <a:avLst/>
          </a:prstGeom>
          <a:solidFill>
            <a:srgbClr val="5F4C37"/>
          </a:solidFill>
          <a:ln w="19050">
            <a:solidFill>
              <a:srgbClr val="AE91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9" name="Picture 68" descr="gam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5166360" cy="2926080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8092440" y="4544568"/>
            <a:ext cx="516636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257032" y="4617720"/>
            <a:ext cx="483717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1E6"/>
                </a:solidFill>
                <a:latin typeface="Consolas"/>
              </a:rPr>
              <a:t>LETZTER SCREEN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5840" y="2057400"/>
            <a:ext cx="65836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>
                <a:solidFill>
                  <a:srgbClr val="F5F1E6"/>
                </a:solidFill>
                <a:latin typeface="Aptos Display"/>
              </a:rPr>
              <a:t>VIELEN DANK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24128" y="2971800"/>
            <a:ext cx="4206240" cy="91440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05840" y="329184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0BE48"/>
                </a:solidFill>
                <a:latin typeface="Aptos"/>
              </a:rPr>
              <a:t>FÜR EURE AUFMERKSAMKEIT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4128" y="416052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5F1E6"/>
                </a:solidFill>
                <a:latin typeface="Aptos"/>
              </a:rPr>
              <a:t>Fragen?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51560" y="5669280"/>
            <a:ext cx="594360" cy="777240"/>
          </a:xfrm>
          <a:prstGeom prst="roundRect">
            <a:avLst/>
          </a:prstGeom>
          <a:solidFill>
            <a:srgbClr val="1A281E"/>
          </a:solidFill>
          <a:ln w="25400">
            <a:solidFill>
              <a:srgbClr val="DE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51560" y="587044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>
                <a:solidFill>
                  <a:srgbClr val="DE3A31"/>
                </a:solidFill>
                <a:latin typeface="Aptos"/>
              </a:rPr>
              <a:t>5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874519" y="5669280"/>
            <a:ext cx="594360" cy="777240"/>
          </a:xfrm>
          <a:prstGeom prst="roundRect">
            <a:avLst/>
          </a:prstGeom>
          <a:solidFill>
            <a:srgbClr val="1A281E"/>
          </a:solidFill>
          <a:ln w="25400">
            <a:solidFill>
              <a:srgbClr val="F0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874519" y="587044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>
                <a:solidFill>
                  <a:srgbClr val="F0BE48"/>
                </a:solidFill>
                <a:latin typeface="Aptos"/>
              </a:rPr>
              <a:t>6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697480" y="5669280"/>
            <a:ext cx="594360" cy="777240"/>
          </a:xfrm>
          <a:prstGeom prst="roundRect">
            <a:avLst/>
          </a:prstGeom>
          <a:solidFill>
            <a:srgbClr val="1A281E"/>
          </a:solidFill>
          <a:ln w="25400">
            <a:solidFill>
              <a:srgbClr val="7EF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697480" y="5870448"/>
            <a:ext cx="59436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de-DE" sz="2000" b="1" dirty="0">
                <a:solidFill>
                  <a:srgbClr val="7EF54D"/>
                </a:solidFill>
                <a:latin typeface="Aptos"/>
              </a:rPr>
              <a:t>7</a:t>
            </a:r>
            <a:endParaRPr sz="2000" b="1" dirty="0">
              <a:solidFill>
                <a:srgbClr val="7EF54D"/>
              </a:solidFill>
              <a:latin typeface="Aptos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3520440" y="5669280"/>
            <a:ext cx="594360" cy="777240"/>
          </a:xfrm>
          <a:prstGeom prst="roundRect">
            <a:avLst/>
          </a:prstGeom>
          <a:solidFill>
            <a:srgbClr val="1A281E"/>
          </a:solidFill>
          <a:ln w="25400">
            <a:solidFill>
              <a:srgbClr val="5CC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520440" y="5870448"/>
            <a:ext cx="59436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de-DE" sz="2000" b="1" dirty="0">
                <a:solidFill>
                  <a:srgbClr val="5CC1E3"/>
                </a:solidFill>
                <a:latin typeface="Aptos"/>
              </a:rPr>
              <a:t>8</a:t>
            </a:r>
            <a:endParaRPr sz="2000" b="1" dirty="0">
              <a:solidFill>
                <a:srgbClr val="5CC1E3"/>
              </a:solidFill>
              <a:latin typeface="Apto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0" y="0"/>
            <a:ext cx="14630400" cy="228600"/>
          </a:xfrm>
          <a:prstGeom prst="rect">
            <a:avLst/>
          </a:prstGeom>
          <a:solidFill>
            <a:srgbClr val="77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0" y="228600"/>
            <a:ext cx="14630400" cy="73152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94360" y="41148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594360" y="1106424"/>
            <a:ext cx="2743200" cy="73152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3401568" y="1106424"/>
            <a:ext cx="914400" cy="73152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3304520" y="384048"/>
            <a:ext cx="155448" cy="155448"/>
          </a:xfrm>
          <a:prstGeom prst="rect">
            <a:avLst/>
          </a:prstGeom>
          <a:solidFill>
            <a:srgbClr val="7EF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3533120" y="594360"/>
            <a:ext cx="155448" cy="155448"/>
          </a:xfrm>
          <a:prstGeom prst="rect">
            <a:avLst/>
          </a:prstGeom>
          <a:solidFill>
            <a:srgbClr val="F0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3761720" y="384048"/>
            <a:ext cx="155448" cy="155448"/>
          </a:xfrm>
          <a:prstGeom prst="rect">
            <a:avLst/>
          </a:prstGeom>
          <a:solidFill>
            <a:srgbClr val="DE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3990320" y="594360"/>
            <a:ext cx="155448" cy="155448"/>
          </a:xfrm>
          <a:prstGeom prst="rect">
            <a:avLst/>
          </a:prstGeom>
          <a:solidFill>
            <a:srgbClr val="5CC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4218920" y="384048"/>
            <a:ext cx="155448" cy="155448"/>
          </a:xfrm>
          <a:prstGeom prst="rect">
            <a:avLst/>
          </a:prstGeom>
          <a:solidFill>
            <a:srgbClr val="AE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3853160" y="78181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C6BCA5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</Words>
  <Application>Microsoft Office PowerPoint</Application>
  <PresentationFormat>Benutzerdefiniert</PresentationFormat>
  <Paragraphs>142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David Jäger</dc:creator>
  <cp:keywords/>
  <dc:description>generated using python-pptx</dc:description>
  <cp:lastModifiedBy>JÄGER David</cp:lastModifiedBy>
  <cp:revision>2</cp:revision>
  <dcterms:created xsi:type="dcterms:W3CDTF">2013-01-27T09:14:16Z</dcterms:created>
  <dcterms:modified xsi:type="dcterms:W3CDTF">2026-06-22T20:19:34Z</dcterms:modified>
  <cp:category/>
</cp:coreProperties>
</file>